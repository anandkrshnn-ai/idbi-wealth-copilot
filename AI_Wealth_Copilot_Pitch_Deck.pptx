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FFFFF"/>
                </a:solidFill>
                <a:latin typeface="Arial"/>
              </a:defRPr>
            </a:pPr>
            <a:r>
              <a:t>AI WEALTH COPILOT PROTOTYPE</a:t>
            </a:r>
          </a:p>
          <a:p>
            <a:pPr>
              <a:spcBef>
                <a:spcPts val="1000"/>
              </a:spcBef>
              <a:defRPr sz="2000">
                <a:solidFill>
                  <a:srgbClr val="FF6B00"/>
                </a:solidFill>
                <a:latin typeface="Arial"/>
              </a:defRPr>
            </a:pPr>
            <a:r>
              <a:t>Conversational, Behavior-Aware Compliance Advisory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F6B00"/>
                </a:solidFill>
              </a:defRPr>
            </a:pPr>
            <a:r>
              <a:t>TEAM DETAILS</a:t>
            </a:r>
          </a:p>
          <a:p>
            <a:pPr>
              <a:lnSpc>
                <a:spcPct val="130000"/>
              </a:lnSpc>
              <a:spcBef>
                <a:spcPts val="600"/>
              </a:spcBef>
              <a:defRPr sz="1400">
                <a:solidFill>
                  <a:srgbClr val="FFFFFF"/>
                </a:solidFill>
              </a:defRPr>
            </a:pPr>
            <a:r>
              <a:t>• Team Leader: Anandakrishnan Damodaran</a:t>
            </a:r>
            <a:br/>
            <a:r>
              <a:t>• Problem Statement: Digital Wealth Management</a:t>
            </a:r>
            <a:br/>
            <a:r>
              <a:t>• Organisation: Independent Builder</a:t>
            </a:r>
            <a:br/>
            <a:r>
              <a:t>• Location: Chennai, Tamil Nadu</a:t>
            </a:r>
          </a:p>
          <a:p>
            <a:br/>
            <a:pPr>
              <a:spcBef>
                <a:spcPts val="1200"/>
              </a:spcBef>
              <a:defRPr sz="1200">
                <a:solidFill>
                  <a:srgbClr val="FFFFFF"/>
                </a:solidFill>
              </a:defRPr>
            </a:pPr>
            <a:r>
              <a:t>ONLINE LINKS</a:t>
            </a:r>
            <a:br/>
            <a:r>
              <a:t>• Repo: github.com/anandkrshnn-ai/ai-wealth-copilot-hackathon-prototype</a:t>
            </a:r>
            <a:br/>
            <a:r>
              <a:t>• Live App: anandkrshnn-ai.github.io/ai-wealth-copilot-hackathon-prototype/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2377440"/>
            <a:ext cx="5212080" cy="3657600"/>
          </a:xfrm>
          <a:prstGeom prst="roundRect">
            <a:avLst/>
          </a:prstGeom>
          <a:solidFill>
            <a:srgbClr val="14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92240" y="2560320"/>
            <a:ext cx="4663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F6B00"/>
                </a:solidFill>
              </a:defRPr>
            </a:pPr>
            <a:r>
              <a:t>THE PROBLEM</a:t>
            </a:r>
          </a:p>
          <a:p>
            <a:pPr>
              <a:lnSpc>
                <a:spcPct val="120000"/>
              </a:lnSpc>
              <a:spcBef>
                <a:spcPts val="1000"/>
              </a:spcBef>
              <a:defRPr sz="1200">
                <a:solidFill>
                  <a:srgbClr val="FFFFFF"/>
                </a:solidFill>
              </a:defRPr>
            </a:pPr>
            <a:r>
              <a:t>Banks want to offer digital wealth management across their retail customer base to increase onboarding funnel conversions. However, they face high regulatory compliance risks regarding suitability (SEBI/RBI rules) and cannot afford unauthorized automated advice.</a:t>
            </a:r>
            <a:br/>
            <a:br/>
            <a:r>
              <a:t>Rigid rule engines frustrate customers, while black-box generative AI tools hallucinate recommendations. A hybrid model resolves this tension by using AI for natural intent capture and audit rationales, with a rules-first compliance engine checking every checkout.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DEE2E6"/>
                </a:solidFill>
                <a:latin typeface="Arial"/>
              </a:defRPr>
            </a:pPr>
            <a:r>
              <a:t>This is an independent prototype created for demonstration purposes. It is not affiliated with or endorsed by any bank.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540"/>
          </a:solidFill>
          <a:ln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6B00"/>
                </a:solidFill>
                <a:latin typeface="Arial"/>
              </a:defRPr>
            </a:pPr>
            <a:r>
              <a:t>AI WEALTH COPILOT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Brief About the Idea - Digital Advisory Re-imagined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400">
                <a:solidFill>
                  <a:srgbClr val="0A2540"/>
                </a:solidFill>
              </a:defRPr>
            </a:pPr>
            <a:r>
              <a:t>AI WEALTH COPILOT PROTOTYPE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212529"/>
                </a:solidFill>
                <a:latin typeface="Arial"/>
              </a:rPr>
              <a:t>Guardrailed Digital Wealth Advisor: </a:t>
            </a:r>
            <a:r>
              <a:rPr b="0" sz="1400">
                <a:solidFill>
                  <a:srgbClr val="212529"/>
                </a:solidFill>
                <a:latin typeface="Arial"/>
              </a:rPr>
              <a:t>Embedded directly inside mobile banking journeys, converting free-form goals into suitability-compliant outcomes.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212529"/>
                </a:solidFill>
                <a:latin typeface="Arial"/>
              </a:rPr>
              <a:t>AI + Rules Hybrid Engine: </a:t>
            </a:r>
            <a:r>
              <a:rPr b="0" sz="1400">
                <a:solidFill>
                  <a:srgbClr val="212529"/>
                </a:solidFill>
                <a:latin typeface="Arial"/>
              </a:rPr>
              <a:t>AI manages multilingual onboarding conversation, while a hardcoded rules engine holds final veto authority.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212529"/>
                </a:solidFill>
                <a:latin typeface="Arial"/>
              </a:rPr>
              <a:t>RM Integration Gateway: </a:t>
            </a:r>
            <a:r>
              <a:rPr b="0" sz="1400">
                <a:solidFill>
                  <a:srgbClr val="212529"/>
                </a:solidFill>
                <a:latin typeface="Arial"/>
              </a:rPr>
              <a:t>Regulated, complex, or high-value cases automatically hand off to relationship managers with full context summaries.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400">
                <a:solidFill>
                  <a:srgbClr val="FF6B00"/>
                </a:solidFill>
              </a:defRPr>
            </a:pPr>
            <a:r>
              <a:t>THE COMPLIANCE ADVANTAGE</a:t>
            </a:r>
          </a:p>
          <a:p>
            <a:pPr>
              <a:defRPr b="1" sz="1300">
                <a:solidFill>
                  <a:srgbClr val="FFFFFF"/>
                </a:solidFill>
              </a:defRPr>
            </a:pPr>
            <a:r>
              <a:t>1. Safe Onboarding Conversions</a:t>
            </a:r>
          </a:p>
          <a:p>
            <a:pPr>
              <a:spcAft>
                <a:spcPts val="1400"/>
              </a:spcAft>
              <a:defRPr sz="1200">
                <a:solidFill>
                  <a:srgbClr val="F4F6F8"/>
                </a:solidFill>
              </a:defRPr>
            </a:pPr>
            <a:r>
              <a:t>Uses Gemini 1.5 Flash (with Bedrock Claude 3.5 Sonnet proxy pathways) to extract intent structure and explain rationales, keeping friction low.</a:t>
            </a:r>
          </a:p>
          <a:p>
            <a:pPr>
              <a:defRPr b="1" sz="1300">
                <a:solidFill>
                  <a:srgbClr val="FFFFFF"/>
                </a:solidFill>
              </a:defRPr>
            </a:pPr>
            <a:r>
              <a:t>2. Enforcing Strict Suitability Policies</a:t>
            </a:r>
          </a:p>
          <a:p>
            <a:pPr>
              <a:defRPr sz="1200">
                <a:solidFill>
                  <a:srgbClr val="F4F6F8"/>
                </a:solidFill>
              </a:defRPr>
            </a:pPr>
            <a:r>
              <a:t>Enforces regulatory rules (SEBI/RBI/IRDA) to prevent unauthorized advice, log compliance overrides, and maintain a full audit trail.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540"/>
          </a:solidFill>
          <a:ln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6B00"/>
                </a:solidFill>
                <a:latin typeface="Arial"/>
              </a:defRPr>
            </a:pPr>
            <a:r>
              <a:t>AI WEALTH COPILOT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Opportunities &amp; Unique Selling Propositions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>
                <a:solidFill>
                  <a:srgbClr val="FF6B00"/>
                </a:solidFill>
              </a:defRPr>
            </a:pPr>
            <a:r>
              <a:t>HOW IS IT DIFFERENT?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212529"/>
                </a:solidFill>
                <a:latin typeface="Arial"/>
              </a:rPr>
              <a:t>Workflow Copilot: </a:t>
            </a:r>
            <a:r>
              <a:rPr b="0" sz="1300">
                <a:solidFill>
                  <a:srgbClr val="212529"/>
                </a:solidFill>
                <a:latin typeface="Arial"/>
              </a:rPr>
              <a:t>Not a generic LLM chatbot — it has explicit, hardcoded suitability rules.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212529"/>
                </a:solidFill>
                <a:latin typeface="Arial"/>
              </a:rPr>
              <a:t>Behavioral Inputs: </a:t>
            </a:r>
            <a:r>
              <a:rPr b="0" sz="1300">
                <a:solidFill>
                  <a:srgbClr val="212529"/>
                </a:solidFill>
                <a:latin typeface="Arial"/>
              </a:rPr>
              <a:t>Uses goals + affordability + transaction logs, not just static questionnaires.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>
                <a:solidFill>
                  <a:srgbClr val="008080"/>
                </a:solidFill>
              </a:defRPr>
            </a:pPr>
            <a:r>
              <a:t>HOW WILL IT SOLVE IT?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212529"/>
                </a:solidFill>
                <a:latin typeface="Arial"/>
              </a:rPr>
              <a:t>Scale Advisory: </a:t>
            </a:r>
            <a:r>
              <a:rPr b="0" sz="1300">
                <a:solidFill>
                  <a:srgbClr val="212529"/>
                </a:solidFill>
                <a:latin typeface="Arial"/>
              </a:rPr>
              <a:t>Brings personalized advisory to mass-retail segments without linear RM headcount growth.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212529"/>
                </a:solidFill>
                <a:latin typeface="Arial"/>
              </a:rPr>
              <a:t>Better RM Leads: </a:t>
            </a:r>
            <a:r>
              <a:rPr b="0" sz="1300">
                <a:solidFill>
                  <a:srgbClr val="212529"/>
                </a:solidFill>
                <a:latin typeface="Arial"/>
              </a:rPr>
              <a:t>Pre-screens customer risk, suitability, and readiness to invest before RM handoff.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>
                <a:solidFill>
                  <a:srgbClr val="0A2540"/>
                </a:solidFill>
              </a:defRPr>
            </a:pPr>
            <a:r>
              <a:t>UNIQUE SELLING POINTS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212529"/>
                </a:solidFill>
                <a:latin typeface="Arial"/>
              </a:rPr>
              <a:t>Guardrailed GenAI: </a:t>
            </a:r>
            <a:r>
              <a:rPr b="0" sz="1300">
                <a:solidFill>
                  <a:srgbClr val="212529"/>
                </a:solidFill>
                <a:latin typeface="Arial"/>
              </a:rPr>
              <a:t>Every advice recommendation must pass suitability parameters before the user sees it.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212529"/>
                </a:solidFill>
                <a:latin typeface="Arial"/>
              </a:rPr>
              <a:t>Explainability: </a:t>
            </a:r>
            <a:r>
              <a:rPr b="0" sz="1300">
                <a:solidFill>
                  <a:srgbClr val="212529"/>
                </a:solidFill>
                <a:latin typeface="Arial"/>
              </a:rPr>
              <a:t>Delivers explicit reason cards (Goal fit, Risk fit, Product fit) for RMs and auditors.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540"/>
          </a:solidFill>
          <a:ln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6B00"/>
                </a:solidFill>
                <a:latin typeface="Arial"/>
              </a:defRPr>
            </a:pPr>
            <a:r>
              <a:t>AI WEALTH COPILOT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List of Features Offered by the 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24688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8308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A2540"/>
                </a:solidFill>
              </a:defRPr>
            </a:pPr>
            <a:r>
              <a:t>Goal-based Onboarding</a:t>
            </a:r>
          </a:p>
          <a:p>
            <a:pPr>
              <a:spcBef>
                <a:spcPts val="600"/>
              </a:spcBef>
              <a:defRPr sz="1100">
                <a:solidFill>
                  <a:srgbClr val="212529"/>
                </a:solidFill>
              </a:defRPr>
            </a:pPr>
            <a:r>
              <a:t>Capture goals, liquidity horizons, and timelines conversing in native language.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645920"/>
            <a:ext cx="24688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29000" y="178308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A2540"/>
                </a:solidFill>
              </a:defRPr>
            </a:pPr>
            <a:r>
              <a:t>Risk Profiling</a:t>
            </a:r>
          </a:p>
          <a:p>
            <a:pPr>
              <a:spcBef>
                <a:spcPts val="600"/>
              </a:spcBef>
              <a:defRPr sz="1100">
                <a:solidFill>
                  <a:srgbClr val="212529"/>
                </a:solidFill>
              </a:defRPr>
            </a:pPr>
            <a:r>
              <a:t>Combine KYC, demographics, income, and transaction behavior to assign bands.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645920"/>
            <a:ext cx="24688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2200" y="178308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A2540"/>
                </a:solidFill>
              </a:defRPr>
            </a:pPr>
            <a:r>
              <a:t>Product Suitability Engine</a:t>
            </a:r>
          </a:p>
          <a:p>
            <a:pPr>
              <a:spcBef>
                <a:spcPts val="600"/>
              </a:spcBef>
              <a:defRPr sz="1100">
                <a:solidFill>
                  <a:srgbClr val="212529"/>
                </a:solidFill>
              </a:defRPr>
            </a:pPr>
            <a:r>
              <a:t>Map mutual funds, bonds, deposits, and insurance safely to risk bands.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78240" y="1645920"/>
            <a:ext cx="24688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15400" y="178308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A2540"/>
                </a:solidFill>
              </a:defRPr>
            </a:pPr>
            <a:r>
              <a:t>Multilingual UX</a:t>
            </a:r>
          </a:p>
          <a:p>
            <a:pPr>
              <a:spcBef>
                <a:spcPts val="600"/>
              </a:spcBef>
              <a:defRPr sz="1100">
                <a:solidFill>
                  <a:srgbClr val="212529"/>
                </a:solidFill>
              </a:defRPr>
            </a:pPr>
            <a:r>
              <a:t>Supports English, Hindi, Marathi, and Gujarati conversational chat interfaces.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023360"/>
            <a:ext cx="24688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16052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A2540"/>
                </a:solidFill>
              </a:defRPr>
            </a:pPr>
            <a:r>
              <a:t>RM Handoff Gateway</a:t>
            </a:r>
          </a:p>
          <a:p>
            <a:pPr>
              <a:spcBef>
                <a:spcPts val="600"/>
              </a:spcBef>
              <a:defRPr sz="1100">
                <a:solidFill>
                  <a:srgbClr val="212529"/>
                </a:solidFill>
              </a:defRPr>
            </a:pPr>
            <a:r>
              <a:t>Auto-flags complex scenarios (like PMS &gt;50L) and forwards logs to RMs.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91840" y="4023360"/>
            <a:ext cx="24688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416052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A2540"/>
                </a:solidFill>
              </a:defRPr>
            </a:pPr>
            <a:r>
              <a:t>Explainability Cards</a:t>
            </a:r>
          </a:p>
          <a:p>
            <a:pPr>
              <a:spcBef>
                <a:spcPts val="600"/>
              </a:spcBef>
              <a:defRPr sz="1100">
                <a:solidFill>
                  <a:srgbClr val="212529"/>
                </a:solidFill>
              </a:defRPr>
            </a:pPr>
            <a:r>
              <a:t>Delivers customer-safe and compliance-specific rationales for every advice.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4023360"/>
            <a:ext cx="24688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416052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A2540"/>
                </a:solidFill>
              </a:defRPr>
            </a:pPr>
            <a:r>
              <a:t>Audit Console Log</a:t>
            </a:r>
          </a:p>
          <a:p>
            <a:pPr>
              <a:spcBef>
                <a:spcPts val="600"/>
              </a:spcBef>
              <a:defRPr sz="1100">
                <a:solidFill>
                  <a:srgbClr val="212529"/>
                </a:solidFill>
              </a:defRPr>
            </a:pPr>
            <a:r>
              <a:t>Exposes AI prompts, parameters, rules overrides, and API traces to auditors.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78240" y="4023360"/>
            <a:ext cx="24688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15400" y="416052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A2540"/>
                </a:solidFill>
              </a:defRPr>
            </a:pPr>
            <a:r>
              <a:t>Behavioral scoring checks</a:t>
            </a:r>
          </a:p>
          <a:p>
            <a:pPr>
              <a:spcBef>
                <a:spcPts val="600"/>
              </a:spcBef>
              <a:defRPr sz="1100">
                <a:solidFill>
                  <a:srgbClr val="212529"/>
                </a:solidFill>
              </a:defRPr>
            </a:pPr>
            <a:r>
              <a:t>Scans account logs to penalize cheque bounces and reward savings habits.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540"/>
          </a:solidFill>
          <a:ln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6B00"/>
                </a:solidFill>
                <a:latin typeface="Arial"/>
              </a:defRPr>
            </a:pPr>
            <a:r>
              <a:t>AI WEALTH COPILOT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Process Flow Diagram - Advisory Onboarding Journey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64592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42316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00">
                <a:solidFill>
                  <a:srgbClr val="FF6B00"/>
                </a:solidFill>
              </a:defRPr>
            </a:pPr>
            <a:r>
              <a:t>STAGE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14630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A2540"/>
                </a:solidFill>
              </a:defRPr>
            </a:pPr>
            <a:r>
              <a:t>1. Consent &amp; Log</a:t>
            </a:r>
          </a:p>
          <a:p>
            <a:pPr>
              <a:spcBef>
                <a:spcPts val="600"/>
              </a:spcBef>
              <a:defRPr sz="1000">
                <a:solidFill>
                  <a:srgbClr val="212529"/>
                </a:solidFill>
              </a:defRPr>
            </a:pPr>
            <a:r>
              <a:t>User logs in, opts into Wealth Copilot.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40" y="2286000"/>
            <a:ext cx="164592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80" y="242316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00">
                <a:solidFill>
                  <a:srgbClr val="FF6B00"/>
                </a:solidFill>
              </a:defRPr>
            </a:pPr>
            <a:r>
              <a:t>STAGE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834640"/>
            <a:ext cx="14630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A2540"/>
                </a:solidFill>
              </a:defRPr>
            </a:pPr>
            <a:r>
              <a:t>2. Goal Capture</a:t>
            </a:r>
          </a:p>
          <a:p>
            <a:pPr>
              <a:spcBef>
                <a:spcPts val="600"/>
              </a:spcBef>
              <a:defRPr sz="1000">
                <a:solidFill>
                  <a:srgbClr val="212529"/>
                </a:solidFill>
              </a:defRPr>
            </a:pPr>
            <a:r>
              <a:t>AI collects goals, horizons in natural language.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2286000"/>
            <a:ext cx="164592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242316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00">
                <a:solidFill>
                  <a:srgbClr val="FF6B00"/>
                </a:solidFill>
              </a:defRPr>
            </a:pPr>
            <a:r>
              <a:t>STAGE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834640"/>
            <a:ext cx="14630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A2540"/>
                </a:solidFill>
              </a:defRPr>
            </a:pPr>
            <a:r>
              <a:t>3. Suitability Engine</a:t>
            </a:r>
          </a:p>
          <a:p>
            <a:pPr>
              <a:spcBef>
                <a:spcPts val="600"/>
              </a:spcBef>
              <a:defRPr sz="1000">
                <a:solidFill>
                  <a:srgbClr val="212529"/>
                </a:solidFill>
              </a:defRPr>
            </a:pPr>
            <a:r>
              <a:t>Checks risk bands, credit scores, transaction history.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2286000"/>
            <a:ext cx="164592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242316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00">
                <a:solidFill>
                  <a:srgbClr val="FF6B00"/>
                </a:solidFill>
              </a:defRPr>
            </a:pPr>
            <a:r>
              <a:t>STAGE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834640"/>
            <a:ext cx="14630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A2540"/>
                </a:solidFill>
              </a:defRPr>
            </a:pPr>
            <a:r>
              <a:t>4. AI Rationales</a:t>
            </a:r>
          </a:p>
          <a:p>
            <a:pPr>
              <a:spcBef>
                <a:spcPts val="600"/>
              </a:spcBef>
              <a:defRPr sz="1000">
                <a:solidFill>
                  <a:srgbClr val="212529"/>
                </a:solidFill>
              </a:defRPr>
            </a:pPr>
            <a:r>
              <a:t>Generates explainability cards showing fits &amp; rationales.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3840" y="2286000"/>
            <a:ext cx="164592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0" y="242316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00">
                <a:solidFill>
                  <a:srgbClr val="FF6B00"/>
                </a:solidFill>
              </a:defRPr>
            </a:pPr>
            <a:r>
              <a:t>STAGE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0" y="2834640"/>
            <a:ext cx="14630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A2540"/>
                </a:solidFill>
              </a:defRPr>
            </a:pPr>
            <a:r>
              <a:t>5. Guardrail Check</a:t>
            </a:r>
          </a:p>
          <a:p>
            <a:pPr>
              <a:spcBef>
                <a:spcPts val="600"/>
              </a:spcBef>
              <a:defRPr sz="1000">
                <a:solidFill>
                  <a:srgbClr val="212529"/>
                </a:solidFill>
              </a:defRPr>
            </a:pPr>
            <a:r>
              <a:t>Triggers direct checkout OR automatic RM escalation.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92640" y="2286000"/>
            <a:ext cx="164592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0" y="242316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00">
                <a:solidFill>
                  <a:srgbClr val="FF6B00"/>
                </a:solidFill>
              </a:defRPr>
            </a:pPr>
            <a:r>
              <a:t>STAGE 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0" y="2834640"/>
            <a:ext cx="14630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A2540"/>
                </a:solidFill>
              </a:defRPr>
            </a:pPr>
            <a:r>
              <a:t>6. Order Executed</a:t>
            </a:r>
          </a:p>
          <a:p>
            <a:pPr>
              <a:spcBef>
                <a:spcPts val="600"/>
              </a:spcBef>
              <a:defRPr sz="1000">
                <a:solidFill>
                  <a:srgbClr val="212529"/>
                </a:solidFill>
              </a:defRPr>
            </a:pPr>
            <a:r>
              <a:t>Completes the transaction, schedules portfolio monitoring.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540"/>
          </a:solidFill>
          <a:ln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6B00"/>
                </a:solidFill>
                <a:latin typeface="Arial"/>
              </a:defRPr>
            </a:pPr>
            <a:r>
              <a:t>AI WEALTH COPILOT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Screens / Journey View - Customer Advisory Journey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246888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400">
                <a:solidFill>
                  <a:srgbClr val="0A2540"/>
                </a:solidFill>
              </a:defRPr>
            </a:pPr>
            <a:r>
              <a:t>1. Onboarding</a:t>
            </a:r>
          </a:p>
          <a:p>
            <a:pPr>
              <a:lnSpc>
                <a:spcPct val="130000"/>
              </a:lnSpc>
              <a:defRPr sz="1200">
                <a:solidFill>
                  <a:srgbClr val="212529"/>
                </a:solidFill>
              </a:defRPr>
            </a:pPr>
            <a:r>
              <a:t>• Customer opens mobile app &amp; opts in</a:t>
            </a:r>
            <a:br/>
            <a:r>
              <a:t>• Consent captured for profile-based advice</a:t>
            </a:r>
            <a:br/>
            <a:r>
              <a:t>• Starts conversational multilingual journey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645920"/>
            <a:ext cx="246888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37560" y="182880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400">
                <a:solidFill>
                  <a:srgbClr val="0A2540"/>
                </a:solidFill>
              </a:defRPr>
            </a:pPr>
            <a:r>
              <a:t>2. Profiling</a:t>
            </a:r>
          </a:p>
          <a:p>
            <a:pPr>
              <a:lnSpc>
                <a:spcPct val="130000"/>
              </a:lnSpc>
              <a:defRPr sz="1200">
                <a:solidFill>
                  <a:srgbClr val="212529"/>
                </a:solidFill>
              </a:defRPr>
            </a:pPr>
            <a:r>
              <a:t>• Collects goal horizon, budget, &amp; timeline</a:t>
            </a:r>
            <a:br/>
            <a:r>
              <a:t>• Integrates dynamic account behaviour checks</a:t>
            </a:r>
            <a:br/>
            <a:r>
              <a:t>• Suitability logic segments risk bands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0" y="1645920"/>
            <a:ext cx="246888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89320" y="182880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400">
                <a:solidFill>
                  <a:srgbClr val="0A2540"/>
                </a:solidFill>
              </a:defRPr>
            </a:pPr>
            <a:r>
              <a:t>3. Recommendation</a:t>
            </a:r>
          </a:p>
          <a:p>
            <a:pPr>
              <a:lnSpc>
                <a:spcPct val="130000"/>
              </a:lnSpc>
              <a:defRPr sz="1200">
                <a:solidFill>
                  <a:srgbClr val="212529"/>
                </a:solidFill>
              </a:defRPr>
            </a:pPr>
            <a:r>
              <a:t>• Presents explainable recommendations</a:t>
            </a:r>
            <a:br/>
            <a:r>
              <a:t>• Explains Goal, Risk, &amp; Product fits</a:t>
            </a:r>
            <a:br/>
            <a:r>
              <a:t>• Policy guardrails verify eligible options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1645920"/>
            <a:ext cx="246888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41080" y="182880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400">
                <a:solidFill>
                  <a:srgbClr val="0A2540"/>
                </a:solidFill>
              </a:defRPr>
            </a:pPr>
            <a:r>
              <a:t>4. Escalation / Execution</a:t>
            </a:r>
          </a:p>
          <a:p>
            <a:pPr>
              <a:lnSpc>
                <a:spcPct val="130000"/>
              </a:lnSpc>
              <a:defRPr sz="1200">
                <a:solidFill>
                  <a:srgbClr val="212529"/>
                </a:solidFill>
              </a:defRPr>
            </a:pPr>
            <a:r>
              <a:t>• Auto-escapes complex or regulated cases</a:t>
            </a:r>
            <a:br/>
            <a:r>
              <a:t>• RMs receive complete context summaries</a:t>
            </a:r>
            <a:br/>
            <a:r>
              <a:t>• Executes &amp; sets up event-driven nudges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i="1" sz="1300">
                <a:solidFill>
                  <a:srgbClr val="6C757D"/>
                </a:solidFill>
              </a:defRPr>
            </a:pPr>
            <a:r>
              <a:t>A guided, compliant journey from discovery to execution — with AI for scale and RM oversight for trust.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540"/>
          </a:solidFill>
          <a:ln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6B00"/>
                </a:solidFill>
                <a:latin typeface="Arial"/>
              </a:defRPr>
            </a:pPr>
            <a:r>
              <a:t>AI WEALTH COPILOT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Architecture Diagram of the Proposed 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>
                <a:solidFill>
                  <a:srgbClr val="0A2540"/>
                </a:solidFill>
              </a:defRPr>
            </a:pPr>
            <a:r>
              <a:t>CHANNEL LAYER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212529"/>
                </a:solidFill>
                <a:latin typeface="Arial"/>
              </a:rPr>
              <a:t>Client Mobile App: </a:t>
            </a:r>
            <a:r>
              <a:rPr b="0" sz="1200">
                <a:solidFill>
                  <a:srgbClr val="212529"/>
                </a:solidFill>
                <a:latin typeface="Arial"/>
              </a:rPr>
              <a:t>Host client chat.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212529"/>
                </a:solidFill>
                <a:latin typeface="Arial"/>
              </a:rPr>
              <a:t>RM Branch Portal: </a:t>
            </a:r>
            <a:r>
              <a:rPr b="0" sz="1200">
                <a:solidFill>
                  <a:srgbClr val="212529"/>
                </a:solidFill>
                <a:latin typeface="Arial"/>
              </a:rPr>
              <a:t>Receives escalations.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212529"/>
                </a:solidFill>
                <a:latin typeface="Arial"/>
              </a:rPr>
              <a:t>API Gateway: </a:t>
            </a:r>
            <a:r>
              <a:rPr b="0" sz="1200">
                <a:solidFill>
                  <a:srgbClr val="212529"/>
                </a:solidFill>
                <a:latin typeface="Arial"/>
              </a:rPr>
              <a:t>Routes secure client sessions.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206240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>
                <a:solidFill>
                  <a:srgbClr val="FF6B00"/>
                </a:solidFill>
              </a:defRPr>
            </a:pPr>
            <a:r>
              <a:t>AI &amp; LOGIC LAYER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FFFFF"/>
                </a:solidFill>
              </a:rPr>
              <a:t>Orchestrator: </a:t>
            </a:r>
            <a:r>
              <a:rPr sz="1200">
                <a:solidFill>
                  <a:srgbClr val="F4F6F8"/>
                </a:solidFill>
              </a:rPr>
              <a:t>Session state &amp; chat routing.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FFFFF"/>
                </a:solidFill>
              </a:rPr>
              <a:t>Policy Engine: </a:t>
            </a:r>
            <a:r>
              <a:rPr sz="1200">
                <a:solidFill>
                  <a:srgbClr val="F4F6F8"/>
                </a:solidFill>
              </a:rPr>
              <a:t>Hardcoded SEBI suitability &amp; risk check rules.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FFFFF"/>
                </a:solidFill>
              </a:rPr>
              <a:t>Bedrock / Gemini: </a:t>
            </a:r>
            <a:r>
              <a:rPr sz="1200">
                <a:solidFill>
                  <a:srgbClr val="F4F6F8"/>
                </a:solidFill>
              </a:rPr>
              <a:t>For intent extraction &amp; explainability.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4592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>
                <a:solidFill>
                  <a:srgbClr val="008080"/>
                </a:solidFill>
              </a:defRPr>
            </a:pPr>
            <a:r>
              <a:t>DATA &amp; CORE LAYER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212529"/>
                </a:solidFill>
                <a:latin typeface="Arial"/>
              </a:rPr>
              <a:t>Profile Master: </a:t>
            </a:r>
            <a:r>
              <a:rPr b="0" sz="1200">
                <a:solidFill>
                  <a:srgbClr val="212529"/>
                </a:solidFill>
                <a:latin typeface="Arial"/>
              </a:rPr>
              <a:t>Holds customer demographic info.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212529"/>
                </a:solidFill>
                <a:latin typeface="Arial"/>
              </a:rPr>
              <a:t>Core Banking (CBS): </a:t>
            </a:r>
            <a:r>
              <a:rPr b="0" sz="1200">
                <a:solidFill>
                  <a:srgbClr val="212529"/>
                </a:solidFill>
                <a:latin typeface="Arial"/>
              </a:rPr>
              <a:t>Ingests active balances and transaction warning logs.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212529"/>
                </a:solidFill>
                <a:latin typeface="Arial"/>
              </a:rPr>
              <a:t>RDS Database: </a:t>
            </a:r>
            <a:r>
              <a:rPr b="0" sz="1200">
                <a:solidFill>
                  <a:srgbClr val="212529"/>
                </a:solidFill>
                <a:latin typeface="Arial"/>
              </a:rPr>
              <a:t>Logs audit trails securely.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94360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6C757D"/>
                </a:solidFill>
              </a:defRPr>
            </a:pPr>
            <a:r>
              <a:t>Note: The architecture isolates bank data inside private subnets, routing to Amazon Bedrock via secure VPC endpoints.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540"/>
          </a:solidFill>
          <a:ln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6B00"/>
                </a:solidFill>
                <a:latin typeface="Arial"/>
              </a:defRPr>
            </a:pPr>
            <a:r>
              <a:t>AI WEALTH COPILOT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Technologies to be Used in the 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24688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300">
                <a:solidFill>
                  <a:srgbClr val="0A2540"/>
                </a:solidFill>
              </a:defRPr>
            </a:pPr>
            <a:r>
              <a:t>FRONTEND &amp; UX</a:t>
            </a:r>
          </a:p>
          <a:p>
            <a:pPr>
              <a:lnSpc>
                <a:spcPct val="130000"/>
              </a:lnSpc>
              <a:defRPr sz="1200">
                <a:solidFill>
                  <a:srgbClr val="212529"/>
                </a:solidFill>
              </a:defRPr>
            </a:pPr>
            <a:r>
              <a:t>• HTML5 &amp; CSS3</a:t>
            </a:r>
            <a:br/>
            <a:r>
              <a:t>• Vanilla Javascript</a:t>
            </a:r>
            <a:br/>
            <a:r>
              <a:t>• Mobile banking integration</a:t>
            </a:r>
            <a:br/>
            <a:r>
              <a:t>• Multilingual UX templates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645920"/>
            <a:ext cx="24688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37560" y="182880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300">
                <a:solidFill>
                  <a:srgbClr val="0A2540"/>
                </a:solidFill>
              </a:defRPr>
            </a:pPr>
            <a:r>
              <a:t>AI &amp; REASONING</a:t>
            </a:r>
          </a:p>
          <a:p>
            <a:pPr>
              <a:lnSpc>
                <a:spcPct val="130000"/>
              </a:lnSpc>
              <a:defRPr sz="1200">
                <a:solidFill>
                  <a:srgbClr val="212529"/>
                </a:solidFill>
              </a:defRPr>
            </a:pPr>
            <a:r>
              <a:t>• Gemini 1.5 Flash NLU</a:t>
            </a:r>
            <a:br/>
            <a:r>
              <a:t>• Amazon Bedrock Claude 3.5</a:t>
            </a:r>
            <a:br/>
            <a:r>
              <a:t>• Structured JSON Output</a:t>
            </a:r>
            <a:br/>
            <a:r>
              <a:t>• Guardrails &amp; RAG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0" y="1645920"/>
            <a:ext cx="24688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89320" y="182880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300">
                <a:solidFill>
                  <a:srgbClr val="0A2540"/>
                </a:solidFill>
              </a:defRPr>
            </a:pPr>
            <a:r>
              <a:t>BACKEND &amp; DATA</a:t>
            </a:r>
          </a:p>
          <a:p>
            <a:pPr>
              <a:lnSpc>
                <a:spcPct val="130000"/>
              </a:lnSpc>
              <a:defRPr sz="1200">
                <a:solidFill>
                  <a:srgbClr val="212529"/>
                </a:solidFill>
              </a:defRPr>
            </a:pPr>
            <a:r>
              <a:t>• API Gateway &amp; BFF services</a:t>
            </a:r>
            <a:br/>
            <a:r>
              <a:t>• Customer profile masters</a:t>
            </a:r>
            <a:br/>
            <a:r>
              <a:t>• PostgreSQL database logs</a:t>
            </a:r>
            <a:br/>
            <a:r>
              <a:t>• EventBus notifications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1645920"/>
            <a:ext cx="24688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41080" y="182880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300">
                <a:solidFill>
                  <a:srgbClr val="0A2540"/>
                </a:solidFill>
              </a:defRPr>
            </a:pPr>
            <a:r>
              <a:t>SECURITY &amp; COMP.</a:t>
            </a:r>
          </a:p>
          <a:p>
            <a:pPr>
              <a:lnSpc>
                <a:spcPct val="130000"/>
              </a:lnSpc>
              <a:defRPr sz="1200">
                <a:solidFill>
                  <a:srgbClr val="212529"/>
                </a:solidFill>
              </a:defRPr>
            </a:pPr>
            <a:r>
              <a:t>• OAuth &amp; SSO auth layers</a:t>
            </a:r>
            <a:br/>
            <a:r>
              <a:t>• SSL &amp; KMS envelope encryption</a:t>
            </a:r>
            <a:br/>
            <a:r>
              <a:t>• DPDP Act consent tracking</a:t>
            </a:r>
            <a:br/>
            <a:r>
              <a:t>• Auditor audit console logging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540"/>
          </a:solidFill>
          <a:ln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6B00"/>
                </a:solidFill>
                <a:latin typeface="Arial"/>
              </a:defRPr>
            </a:pPr>
            <a:r>
              <a:t>AI WEALTH COPILOT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Prototype Benchmarking, Costs &amp; Future Plans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00">
                <a:solidFill>
                  <a:srgbClr val="0A2540"/>
                </a:solidFill>
              </a:defRPr>
            </a:pPr>
            <a:r>
              <a:t>BENCHMARKS &amp; PERFORMANCE REPORT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212529"/>
                </a:solidFill>
                <a:latin typeface="Arial"/>
              </a:rPr>
              <a:t>Fast Response: </a:t>
            </a:r>
            <a:r>
              <a:rPr b="0" sz="1200">
                <a:solidFill>
                  <a:srgbClr val="212529"/>
                </a:solidFill>
                <a:latin typeface="Arial"/>
              </a:rPr>
              <a:t>Takes &lt; 5 seconds for generating advisory cards.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212529"/>
                </a:solidFill>
                <a:latin typeface="Arial"/>
              </a:rPr>
              <a:t>100% Guardrail: </a:t>
            </a:r>
            <a:r>
              <a:rPr b="0" sz="1200">
                <a:solidFill>
                  <a:srgbClr val="212529"/>
                </a:solidFill>
                <a:latin typeface="Arial"/>
              </a:rPr>
              <a:t>Policy rules intercept vulnerability segments and check surplus affordability.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212529"/>
                </a:solidFill>
                <a:latin typeface="Arial"/>
              </a:rPr>
              <a:t>Explainability: </a:t>
            </a:r>
            <a:r>
              <a:rPr b="0" sz="1200">
                <a:solidFill>
                  <a:srgbClr val="212529"/>
                </a:solidFill>
                <a:latin typeface="Arial"/>
              </a:rPr>
              <a:t>Delivers 3 critical reason cards for goal, risk, and product alignment.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212529"/>
                </a:solidFill>
                <a:latin typeface="Arial"/>
              </a:rPr>
              <a:t>1-Click Handoff: </a:t>
            </a:r>
            <a:r>
              <a:rPr b="0" sz="1200">
                <a:solidFill>
                  <a:srgbClr val="212529"/>
                </a:solidFill>
                <a:latin typeface="Arial"/>
              </a:rPr>
              <a:t>RMs receive context payloads with complete scoring audit logs.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00">
                <a:solidFill>
                  <a:srgbClr val="FF6B00"/>
                </a:solidFill>
              </a:defRPr>
            </a:pPr>
            <a:r>
              <a:t>IMPLEMENTATION COST &amp; ROADMAP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FFFFF"/>
                </a:solidFill>
              </a:rPr>
              <a:t>Development: </a:t>
            </a:r>
            <a:r>
              <a:rPr sz="1200">
                <a:solidFill>
                  <a:srgbClr val="F4F6F8"/>
                </a:solidFill>
              </a:rPr>
              <a:t>6-8 weeks from prototype sandbox verification to pilot release.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FFFFF"/>
                </a:solidFill>
              </a:rPr>
              <a:t>Low Cost: </a:t>
            </a:r>
            <a:r>
              <a:rPr sz="1200">
                <a:solidFill>
                  <a:srgbClr val="F4F6F8"/>
                </a:solidFill>
              </a:rPr>
              <a:t>Uses existing cloud environments, caching data during test phases.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FFFFF"/>
                </a:solidFill>
              </a:rPr>
              <a:t>Near-term: </a:t>
            </a:r>
            <a:r>
              <a:rPr sz="1200">
                <a:solidFill>
                  <a:srgbClr val="F4F6F8"/>
                </a:solidFill>
              </a:rPr>
              <a:t>Mutual Fund Master integrations, portfolio rebalancing triggers.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FFFFF"/>
                </a:solidFill>
              </a:rPr>
              <a:t>Long-term: </a:t>
            </a:r>
            <a:r>
              <a:rPr sz="1200">
                <a:solidFill>
                  <a:srgbClr val="F4F6F8"/>
                </a:solidFill>
              </a:rPr>
              <a:t>Audit logs monitoring dashboard, fairness checks, structured investments.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540"/>
          </a:solidFill>
          <a:ln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6B00"/>
                </a:solidFill>
                <a:latin typeface="Arial"/>
              </a:defRPr>
            </a:pPr>
            <a:r>
              <a:t>AI WEALTH COPILOT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Snapshots of the Active Advisory Prototype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246888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21945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B00"/>
                </a:solidFill>
              </a:defRPr>
            </a:pPr>
            <a:r>
              <a:t>Snapshot 01</a:t>
            </a:r>
          </a:p>
          <a:p>
            <a:pPr>
              <a:spcBef>
                <a:spcPts val="600"/>
              </a:spcBef>
              <a:defRPr b="1" sz="1300">
                <a:solidFill>
                  <a:srgbClr val="0A2540"/>
                </a:solidFill>
              </a:defRPr>
            </a:pPr>
            <a:r>
              <a:t>Goal &amp; Profile Discovery</a:t>
            </a:r>
          </a:p>
          <a:p>
            <a:br/>
            <a:pPr algn="ctr">
              <a:spcBef>
                <a:spcPts val="2000"/>
              </a:spcBef>
              <a:defRPr sz="1100">
                <a:solidFill>
                  <a:srgbClr val="6C757D"/>
                </a:solidFill>
              </a:defRPr>
            </a:pPr>
            <a:r>
              <a:t>[Insert Screenshot Here]</a:t>
            </a:r>
            <a:br/>
            <a:br/>
            <a:r>
              <a:t>Client goal text box &amp; language selector panel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645920"/>
            <a:ext cx="246888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37560" y="1828800"/>
            <a:ext cx="21945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B00"/>
                </a:solidFill>
              </a:defRPr>
            </a:pPr>
            <a:r>
              <a:t>Snapshot 02</a:t>
            </a:r>
          </a:p>
          <a:p>
            <a:pPr>
              <a:spcBef>
                <a:spcPts val="600"/>
              </a:spcBef>
              <a:defRPr b="1" sz="1300">
                <a:solidFill>
                  <a:srgbClr val="0A2540"/>
                </a:solidFill>
              </a:defRPr>
            </a:pPr>
            <a:r>
              <a:t>Suitability Analysis</a:t>
            </a:r>
          </a:p>
          <a:p>
            <a:br/>
            <a:pPr algn="ctr">
              <a:spcBef>
                <a:spcPts val="2000"/>
              </a:spcBef>
              <a:defRPr sz="1100">
                <a:solidFill>
                  <a:srgbClr val="6C757D"/>
                </a:solidFill>
              </a:defRPr>
            </a:pPr>
            <a:r>
              <a:t>[Insert Screenshot Here]</a:t>
            </a:r>
            <a:br/>
            <a:br/>
            <a:r>
              <a:t>Calculated score indicators &amp; behavioral score meters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0" y="1645920"/>
            <a:ext cx="246888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89320" y="1828800"/>
            <a:ext cx="21945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B00"/>
                </a:solidFill>
              </a:defRPr>
            </a:pPr>
            <a:r>
              <a:t>Snapshot 03</a:t>
            </a:r>
          </a:p>
          <a:p>
            <a:pPr>
              <a:spcBef>
                <a:spcPts val="600"/>
              </a:spcBef>
              <a:defRPr b="1" sz="1300">
                <a:solidFill>
                  <a:srgbClr val="0A2540"/>
                </a:solidFill>
              </a:defRPr>
            </a:pPr>
            <a:r>
              <a:t>Advisory Rationale</a:t>
            </a:r>
          </a:p>
          <a:p>
            <a:br/>
            <a:pPr algn="ctr">
              <a:spcBef>
                <a:spcPts val="2000"/>
              </a:spcBef>
              <a:defRPr sz="1100">
                <a:solidFill>
                  <a:srgbClr val="6C757D"/>
                </a:solidFill>
              </a:defRPr>
            </a:pPr>
            <a:r>
              <a:t>[Insert Screenshot Here]</a:t>
            </a:r>
            <a:br/>
            <a:br/>
            <a:r>
              <a:t>Customer-safe &amp; SEBI compliance explainability cards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1645920"/>
            <a:ext cx="246888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41080" y="1828800"/>
            <a:ext cx="21945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B00"/>
                </a:solidFill>
              </a:defRPr>
            </a:pPr>
            <a:r>
              <a:t>Snapshot 04</a:t>
            </a:r>
          </a:p>
          <a:p>
            <a:pPr>
              <a:spcBef>
                <a:spcPts val="600"/>
              </a:spcBef>
              <a:defRPr b="1" sz="1300">
                <a:solidFill>
                  <a:srgbClr val="0A2540"/>
                </a:solidFill>
              </a:defRPr>
            </a:pPr>
            <a:r>
              <a:t>RM Review &amp; Escalation</a:t>
            </a:r>
          </a:p>
          <a:p>
            <a:br/>
            <a:pPr algn="ctr">
              <a:spcBef>
                <a:spcPts val="2000"/>
              </a:spcBef>
              <a:defRPr sz="1100">
                <a:solidFill>
                  <a:srgbClr val="6C757D"/>
                </a:solidFill>
              </a:defRPr>
            </a:pPr>
            <a:r>
              <a:t>[Insert Screenshot Here]</a:t>
            </a:r>
            <a:br/>
            <a:br/>
            <a:r>
              <a:t>Connect-to-RM gateway and secure handoff payloads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SUBMISSION LINKS &amp; ASSETS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560320"/>
            <a:ext cx="3291840" cy="3474720"/>
          </a:xfrm>
          <a:prstGeom prst="roundRect">
            <a:avLst/>
          </a:prstGeom>
          <a:solidFill>
            <a:srgbClr val="14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F6B00"/>
                </a:solidFill>
              </a:defRPr>
            </a:pPr>
            <a:r>
              <a:t>GITHUB PUBLIC REPO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Source code, compliance tests, and target specs:</a:t>
            </a:r>
            <a:br/>
            <a:br/>
            <a:r>
              <a:t>https://github.com/anandkrshnn-ai/ai-wealth-copilot-hackathon-prototype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2560320"/>
            <a:ext cx="3291840" cy="3474720"/>
          </a:xfrm>
          <a:prstGeom prst="roundRect">
            <a:avLst/>
          </a:prstGeom>
          <a:solidFill>
            <a:srgbClr val="14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274320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08080"/>
                </a:solidFill>
              </a:defRPr>
            </a:pPr>
            <a:r>
              <a:t>LIVE DEPLOYMENT LINK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Interact with the live static mobile UI and Auditor console:</a:t>
            </a:r>
            <a:br/>
            <a:br/>
            <a:r>
              <a:t>https://anandkrshnn-ai.github.io/ai-wealth-copilot-hackathon-prototype/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560320"/>
            <a:ext cx="3291840" cy="3474720"/>
          </a:xfrm>
          <a:prstGeom prst="roundRect">
            <a:avLst/>
          </a:prstGeom>
          <a:solidFill>
            <a:srgbClr val="14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274320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F6B00"/>
                </a:solidFill>
              </a:defRPr>
            </a:pPr>
            <a:r>
              <a:t>DEMO VIDEO LINK (3 MIN)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Watch the live demo recording showing NLU goal parser, transaction scoring rules, and RM escalation guardrails.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DEE2E6"/>
                </a:solidFill>
                <a:latin typeface="Arial"/>
              </a:defRPr>
            </a:pPr>
            <a:r>
              <a:t>This is an independent prototype created for demonstration purposes. It is not affiliated with or endorsed by any bank.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